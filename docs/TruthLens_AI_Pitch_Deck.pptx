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6C2B0"/>
                </a:solidFill>
                <a:latin typeface="Aptos"/>
              </a:rPr>
              <a:t>PITCH DECK</a:t>
            </a:r>
          </a:p>
          <a:p>
            <a:r>
              <a:rPr sz="2800" b="1">
                <a:solidFill>
                  <a:srgbClr val="EDF6F3"/>
                </a:solidFill>
                <a:latin typeface="Aptos Display"/>
              </a:rPr>
              <a:t>TruthLens AI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A7A2"/>
                </a:solidFill>
                <a:latin typeface="Aptos"/>
              </a:rPr>
              <a:t>Turning remote interviews into a measurable, multimodal, and evidence-backed recruiting experience.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474720" cy="164592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/>
          <a:lstStyle/>
          <a:p>
            <a:pPr algn="ctr"/>
            <a:r>
              <a:rPr sz="1200" b="1">
                <a:solidFill>
                  <a:srgbClr val="16C2B0"/>
                </a:solidFill>
              </a:rPr>
              <a:t>Problem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EDF6F3"/>
                </a:solidFill>
              </a:rPr>
              <a:t>Subjective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8A7A2"/>
                </a:solidFill>
              </a:rPr>
              <a:t>Recruiters lack objective behavioral cues in virtual interviews.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474720" cy="164592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/>
          <a:lstStyle/>
          <a:p>
            <a:pPr algn="ctr"/>
            <a:r>
              <a:rPr sz="1200" b="1">
                <a:solidFill>
                  <a:srgbClr val="16C2B0"/>
                </a:solidFill>
              </a:rPr>
              <a:t>Solution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16C2B0"/>
                </a:solidFill>
              </a:rPr>
              <a:t>Real-Time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8A7A2"/>
                </a:solidFill>
              </a:rPr>
              <a:t>Face, voice, behavior, and environment analysis in one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828800"/>
            <a:ext cx="3383280" cy="164592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/>
          <a:lstStyle/>
          <a:p>
            <a:pPr algn="ctr"/>
            <a:r>
              <a:rPr sz="1200" b="1">
                <a:solidFill>
                  <a:srgbClr val="16C2B0"/>
                </a:solidFill>
              </a:rPr>
              <a:t>Outcome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F1BA67"/>
                </a:solidFill>
              </a:rPr>
              <a:t>Actionable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8A7A2"/>
                </a:solidFill>
              </a:rPr>
              <a:t>Integrity score, live flags, and a downloadable final report.</a:t>
            </a:r>
          </a:p>
        </p:txBody>
      </p:sp>
      <p:pic>
        <p:nvPicPr>
          <p:cNvPr id="6" name="Picture 5" descr="ui-dashboard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703320"/>
            <a:ext cx="4297680" cy="2148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0" y="3703320"/>
            <a:ext cx="4297680" cy="2148840"/>
          </a:xfrm>
          <a:prstGeom prst="roundRect">
            <a:avLst/>
          </a:prstGeom>
          <a:noFill/>
          <a:ln w="15240"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5943600" cy="214884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One-line pitch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EDF6F3"/>
                </a:solidFill>
              </a:rPr>
              <a:t>TruthLens AI brings facial cues, voice stress, behavioral integrity, and environment monitoring into one recruiter-ready interview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64240" cy="18288"/>
          </a:xfrm>
          <a:prstGeom prst="rect">
            <a:avLst/>
          </a:prstGeom>
          <a:solidFill>
            <a:srgbClr val="244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A7A2"/>
                </a:solidFill>
              </a:rPr>
              <a:t>TruthLens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A7A2"/>
                </a:solidFill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6C2B0"/>
                </a:solidFill>
                <a:latin typeface="Aptos"/>
              </a:rPr>
              <a:t>THE PROBLEM</a:t>
            </a:r>
          </a:p>
          <a:p>
            <a:r>
              <a:rPr sz="2800" b="1">
                <a:solidFill>
                  <a:srgbClr val="EDF6F3"/>
                </a:solidFill>
                <a:latin typeface="Aptos Display"/>
              </a:rPr>
              <a:t>Remote interviews are harder to trust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303520" cy="146304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Recruiters depend on human judgement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Confidence, stress, or suspicious behavior are often inferred manually and inconsistently.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303520" cy="146304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No single system fuses all signals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Most platforms stop at video calling and do not combine face, voice, movement, and scene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83280"/>
            <a:ext cx="5303520" cy="146304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Behavioral red flags are missed in real time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Looking away, phone use, multiple people in frame, or stress spikes are difficult to track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383280"/>
            <a:ext cx="5303520" cy="146304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Little evidence remains after the interview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Recruiters need structured summaries to support better decisions and reduce bias.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F6F3"/>
                </a:solidFill>
              </a:rPr>
              <a:t>Impact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88A7A2"/>
                </a:solidFill>
              </a:rPr>
              <a:t>Lower confidence in remote hiring decisions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88A7A2"/>
                </a:solidFill>
              </a:rPr>
              <a:t>Inconsistent evaluation standards across sessions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88A7A2"/>
                </a:solidFill>
              </a:rPr>
              <a:t>Limited explainability after interviews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64240" cy="18288"/>
          </a:xfrm>
          <a:prstGeom prst="rect">
            <a:avLst/>
          </a:prstGeom>
          <a:solidFill>
            <a:srgbClr val="244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A7A2"/>
                </a:solidFill>
              </a:rPr>
              <a:t>TruthLens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A7A2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6C2B0"/>
                </a:solidFill>
                <a:latin typeface="Aptos"/>
              </a:rPr>
              <a:t>THE SOLUTION</a:t>
            </a:r>
          </a:p>
          <a:p>
            <a:r>
              <a:rPr sz="2800" b="1">
                <a:solidFill>
                  <a:srgbClr val="EDF6F3"/>
                </a:solidFill>
                <a:latin typeface="Aptos Display"/>
              </a:rPr>
              <a:t>TruthLens AI is an interview intelligence co-pilot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88A7A2"/>
                </a:solidFill>
                <a:latin typeface="Aptos"/>
              </a:rPr>
              <a:t>A live recruiter dashboard that turns interview media streams into a clear integrity score, behavior flags, and review-ready evidence.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2514600" cy="201168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Capture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Webcam, microphone, and environment cues are collected from the browser.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194560"/>
            <a:ext cx="2514600" cy="201168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Analyze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OpenCV, DeepFace, Librosa, and YOLO-ready pipelines interpret candidate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94560"/>
            <a:ext cx="2514600" cy="201168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Score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Signals are weighted into a live integrity score with flags and risk labels.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39" y="2194560"/>
            <a:ext cx="2514600" cy="201168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Report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Recruiters receive analytics, verdicts, and a branded PDF summary.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F6F3"/>
                </a:solidFill>
              </a:rPr>
              <a:t>Why this matters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88A7A2"/>
                </a:solidFill>
              </a:rPr>
              <a:t>Moves interviews from intuition-only decisions to evidence-backed review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88A7A2"/>
                </a:solidFill>
              </a:rPr>
              <a:t>Creates one workflow for observation, scoring, and reporting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64240" cy="18288"/>
          </a:xfrm>
          <a:prstGeom prst="rect">
            <a:avLst/>
          </a:prstGeom>
          <a:solidFill>
            <a:srgbClr val="244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A7A2"/>
                </a:solidFill>
              </a:rPr>
              <a:t>TruthLens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A7A2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6C2B0"/>
                </a:solidFill>
                <a:latin typeface="Aptos"/>
              </a:rPr>
              <a:t>CORE PRODUCT</a:t>
            </a:r>
          </a:p>
          <a:p>
            <a:r>
              <a:rPr sz="2800" b="1">
                <a:solidFill>
                  <a:srgbClr val="EDF6F3"/>
                </a:solidFill>
                <a:latin typeface="Aptos Display"/>
              </a:rPr>
              <a:t>Four modules. One recruiter workflow.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5029200" cy="146304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Facial authenticity analysis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Confidence, stress, nervousness, and dominant expressions from live video frames.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828800"/>
            <a:ext cx="5029200" cy="146304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Voice stress monitoring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Calmness, pacing, pitch variation, and tremor patterns from interview audio.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5029200" cy="146304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Behavior tracking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Eye contact, looking-away events, head turning, and movement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657600"/>
            <a:ext cx="5029200" cy="146304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Environment integrity checks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Phone detection, extra-person detection, and suspicious object monitoring.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8288"/>
          </a:xfrm>
          <a:prstGeom prst="rect">
            <a:avLst/>
          </a:prstGeom>
          <a:solidFill>
            <a:srgbClr val="244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A7A2"/>
                </a:solidFill>
              </a:rPr>
              <a:t>TruthLens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A7A2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6C2B0"/>
                </a:solidFill>
                <a:latin typeface="Aptos"/>
              </a:rPr>
              <a:t>ARCHITECTURE</a:t>
            </a:r>
          </a:p>
          <a:p>
            <a:r>
              <a:rPr sz="2800" b="1">
                <a:solidFill>
                  <a:srgbClr val="EDF6F3"/>
                </a:solidFill>
                <a:latin typeface="Aptos Display"/>
              </a:rPr>
              <a:t>Built for demo today, ready for AI integration tomorrow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5303520" cy="141732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Frontend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React.js, Vite, Chart.js, and jsPDF power the recruiter UI, analytics views, and report downloads.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383280"/>
            <a:ext cx="5303520" cy="141732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Backend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FastAPI and Python handle session orchestration, scoring, dashboards, and data contracts.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303520" cy="141732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Vision + Audio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OpenCV, DeepFace, and Librosa fit naturally into the current response schema for live model upgrades.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383280"/>
            <a:ext cx="5303520" cy="141732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Environment AI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YOLO-style object detection supports suspicious-object and extra-person monitoring inside interview frames.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F6F3"/>
                </a:solidFill>
              </a:rPr>
              <a:t>Production path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88A7A2"/>
                </a:solidFill>
              </a:rPr>
              <a:t>Preserve the current UI contract while swapping simulated signals for live inference outputs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64240" cy="18288"/>
          </a:xfrm>
          <a:prstGeom prst="rect">
            <a:avLst/>
          </a:prstGeom>
          <a:solidFill>
            <a:srgbClr val="244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A7A2"/>
                </a:solidFill>
              </a:rPr>
              <a:t>TruthLens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A7A2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6C2B0"/>
                </a:solidFill>
                <a:latin typeface="Aptos"/>
              </a:rPr>
              <a:t>UI SHOWCASE</a:t>
            </a:r>
          </a:p>
          <a:p>
            <a:r>
              <a:rPr sz="2800" b="1">
                <a:solidFill>
                  <a:srgbClr val="EDF6F3"/>
                </a:solidFill>
                <a:latin typeface="Aptos Display"/>
              </a:rPr>
              <a:t>Landing page, recruiter dashboard, and live interview monitor</a:t>
            </a:r>
          </a:p>
        </p:txBody>
      </p:sp>
      <p:pic>
        <p:nvPicPr>
          <p:cNvPr id="3" name="Picture 2" descr="ui-landing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3611880" cy="3611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1645920"/>
            <a:ext cx="3611880" cy="3611880"/>
          </a:xfrm>
          <a:prstGeom prst="roundRect">
            <a:avLst/>
          </a:prstGeom>
          <a:noFill/>
          <a:ln w="15240"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-dashboard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45920"/>
            <a:ext cx="3611880" cy="3611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97680" y="1645920"/>
            <a:ext cx="3611880" cy="3611880"/>
          </a:xfrm>
          <a:prstGeom prst="roundRect">
            <a:avLst/>
          </a:prstGeom>
          <a:noFill/>
          <a:ln w="15240"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-interview.s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45920"/>
            <a:ext cx="3611880" cy="3611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1000" y="1645920"/>
            <a:ext cx="3611880" cy="3611880"/>
          </a:xfrm>
          <a:prstGeom prst="roundRect">
            <a:avLst/>
          </a:prstGeom>
          <a:noFill/>
          <a:ln w="15240"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5440680"/>
            <a:ext cx="3611880" cy="68580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Landing page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Product-first positioning and feature-led onboarding.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5440680"/>
            <a:ext cx="3611880" cy="68580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Dashboard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Verdicts, score distribution, history, and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440680"/>
            <a:ext cx="3611880" cy="68580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EDF6F3"/>
                </a:solidFill>
              </a:rPr>
              <a:t>Interview screen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Live signal overlays, flags, and recruiter-side monitoring.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1064240" cy="18288"/>
          </a:xfrm>
          <a:prstGeom prst="rect">
            <a:avLst/>
          </a:prstGeom>
          <a:solidFill>
            <a:srgbClr val="244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A7A2"/>
                </a:solidFill>
              </a:rPr>
              <a:t>TruthLens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A7A2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6C2B0"/>
                </a:solidFill>
                <a:latin typeface="Aptos"/>
              </a:rPr>
              <a:t>USE CASES</a:t>
            </a:r>
          </a:p>
          <a:p>
            <a:r>
              <a:rPr sz="2800" b="1">
                <a:solidFill>
                  <a:srgbClr val="EDF6F3"/>
                </a:solidFill>
                <a:latin typeface="Aptos Display"/>
              </a:rPr>
              <a:t>Where this can create immediate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5029200" cy="132588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F1BA67"/>
                </a:solidFill>
              </a:rPr>
              <a:t>Campus Placements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Screen large candidate pools with more consistent remote evaluation criteria.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828800"/>
            <a:ext cx="5029200" cy="132588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F1BA67"/>
                </a:solidFill>
              </a:rPr>
              <a:t>Recruitment Agencies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Support faster shortlisting and stronger hiring documentation for client interviews.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566160"/>
            <a:ext cx="5029200" cy="132588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F1BA67"/>
                </a:solidFill>
              </a:rPr>
              <a:t>Enterprise Hiring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Add structured behavioral visibility to remote hiring pipelines without redesigning recruiter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566160"/>
            <a:ext cx="5029200" cy="132588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F1BA67"/>
                </a:solidFill>
              </a:rPr>
              <a:t>Assessment Platforms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Extend into interview-based evaluations, proctored oral tests, and trust-sensitive screening processes.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8288"/>
          </a:xfrm>
          <a:prstGeom prst="rect">
            <a:avLst/>
          </a:prstGeom>
          <a:solidFill>
            <a:srgbClr val="244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A7A2"/>
                </a:solidFill>
              </a:rPr>
              <a:t>TruthLens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A7A2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6C2B0"/>
                </a:solidFill>
                <a:latin typeface="Aptos"/>
              </a:rPr>
              <a:t>ROADMAP</a:t>
            </a:r>
          </a:p>
          <a:p>
            <a:r>
              <a:rPr sz="2800" b="1">
                <a:solidFill>
                  <a:srgbClr val="EDF6F3"/>
                </a:solidFill>
                <a:latin typeface="Aptos Display"/>
              </a:rPr>
              <a:t>From product demo to deployable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520440" cy="228600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Phase 1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Complete live model wiring for facial, voice, and environment analysis while preserving the current UI contract.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828800"/>
            <a:ext cx="3520440" cy="228600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Phase 2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Add historical analytics, interviewer review workflows, and recruiter calibration dashboards.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520440" cy="228600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sz="1600" b="1">
                <a:solidFill>
                  <a:srgbClr val="16C2B0"/>
                </a:solidFill>
              </a:rPr>
              <a:t>Phase 3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88A7A2"/>
                </a:solidFill>
              </a:rPr>
              <a:t>Integrate ATS platforms, fairness guardrails, and enterprise authentication for production rollout.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64240" cy="18288"/>
          </a:xfrm>
          <a:prstGeom prst="rect">
            <a:avLst/>
          </a:prstGeom>
          <a:solidFill>
            <a:srgbClr val="244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A7A2"/>
                </a:solidFill>
              </a:rPr>
              <a:t>TruthLens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A7A2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6C2B0"/>
                </a:solidFill>
                <a:latin typeface="Aptos"/>
              </a:rPr>
              <a:t>CLOSING</a:t>
            </a:r>
          </a:p>
          <a:p>
            <a:r>
              <a:rPr sz="2800" b="1">
                <a:solidFill>
                  <a:srgbClr val="EDF6F3"/>
                </a:solidFill>
                <a:latin typeface="Aptos Display"/>
              </a:rPr>
              <a:t>TruthLens AI makes remote interviews more visible, measurable, and reviewable.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0515600" cy="2011680"/>
          </a:xfrm>
          <a:prstGeom prst="roundRect">
            <a:avLst/>
          </a:prstGeom>
          <a:solidFill>
            <a:srgbClr val="13262A"/>
          </a:solidFill>
          <a:ln>
            <a:solidFill>
              <a:srgbClr val="244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EDF6F3"/>
                </a:solidFill>
              </a:rPr>
              <a:t>We are building a recruiter-facing intelligence layer that helps teams move from intuition-only decisions to evidence-supported remote hiring.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F6F3"/>
                </a:solidFill>
              </a:rPr>
              <a:t>Final takeaway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88A7A2"/>
                </a:solidFill>
              </a:rPr>
              <a:t>TruthLens AI combines facial cues, voice stress, behavioral integrity, and environment monitoring in one platform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88A7A2"/>
                </a:solidFill>
              </a:rPr>
              <a:t>Designed as a demo-ready product with a clear path to live AI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18288"/>
          </a:xfrm>
          <a:prstGeom prst="rect">
            <a:avLst/>
          </a:prstGeom>
          <a:solidFill>
            <a:srgbClr val="244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A7A2"/>
                </a:solidFill>
              </a:rPr>
              <a:t>TruthLens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A7A2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